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</p:sldIdLst>
  <p:sldSz cx="18288000" cy="10287000"/>
  <p:notesSz cx="6858000" cy="9144000"/>
  <p:embeddedFontLst>
    <p:embeddedFont>
      <p:font typeface="Agency FB" panose="020B0503020202020204" pitchFamily="34" charset="0"/>
      <p:regular r:id="rId5"/>
      <p:bold r:id="rId6"/>
    </p:embeddedFont>
    <p:embeddedFont>
      <p:font typeface="Georgia" panose="02040502050405020303" pitchFamily="18" charset="0"/>
      <p:regular r:id="rId7"/>
      <p:bold r:id="rId8"/>
      <p:italic r:id="rId9"/>
      <p:boldItalic r:id="rId10"/>
    </p:embeddedFont>
    <p:embeddedFont>
      <p:font typeface="Muli Bold" panose="020B0604020202020204" charset="0"/>
      <p:regular r:id="rId11"/>
    </p:embeddedFont>
    <p:embeddedFont>
      <p:font typeface="Muli Italics" panose="020B0604020202020204" charset="0"/>
      <p:regular r:id="rId12"/>
    </p:embeddedFont>
    <p:embeddedFont>
      <p:font typeface="Sukar" panose="020B0604020202020204" charset="0"/>
      <p:regular r:id="rId13"/>
    </p:embeddedFont>
    <p:embeddedFont>
      <p:font typeface="Suka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6735" y="2632730"/>
            <a:ext cx="5915025" cy="8229600"/>
          </a:xfrm>
          <a:custGeom>
            <a:avLst/>
            <a:gdLst/>
            <a:ahLst/>
            <a:cxnLst/>
            <a:rect l="l" t="t" r="r" b="b"/>
            <a:pathLst>
              <a:path w="5915025" h="8229600">
                <a:moveTo>
                  <a:pt x="0" y="0"/>
                </a:moveTo>
                <a:lnTo>
                  <a:pt x="5915025" y="0"/>
                </a:lnTo>
                <a:lnTo>
                  <a:pt x="59150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476240" y="-590644"/>
            <a:ext cx="5915025" cy="8229600"/>
          </a:xfrm>
          <a:custGeom>
            <a:avLst/>
            <a:gdLst/>
            <a:ahLst/>
            <a:cxnLst/>
            <a:rect l="l" t="t" r="r" b="b"/>
            <a:pathLst>
              <a:path w="5915025" h="8229600">
                <a:moveTo>
                  <a:pt x="5915025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5915025" y="0"/>
                </a:lnTo>
                <a:lnTo>
                  <a:pt x="5915025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538528" y="1274302"/>
            <a:ext cx="11210945" cy="7738396"/>
            <a:chOff x="0" y="0"/>
            <a:chExt cx="2952677" cy="2038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52677" cy="2038096"/>
            </a:xfrm>
            <a:custGeom>
              <a:avLst/>
              <a:gdLst/>
              <a:ahLst/>
              <a:cxnLst/>
              <a:rect l="l" t="t" r="r" b="b"/>
              <a:pathLst>
                <a:path w="2952677" h="2038096">
                  <a:moveTo>
                    <a:pt x="0" y="0"/>
                  </a:moveTo>
                  <a:lnTo>
                    <a:pt x="2952677" y="0"/>
                  </a:lnTo>
                  <a:lnTo>
                    <a:pt x="2952677" y="2038096"/>
                  </a:lnTo>
                  <a:lnTo>
                    <a:pt x="0" y="2038096"/>
                  </a:ln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52677" cy="207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5029203" y="-3484102"/>
            <a:ext cx="8229600" cy="16764001"/>
          </a:xfrm>
          <a:custGeom>
            <a:avLst/>
            <a:gdLst/>
            <a:ahLst/>
            <a:cxnLst/>
            <a:rect l="l" t="t" r="r" b="b"/>
            <a:pathLst>
              <a:path w="7738396" h="11210945">
                <a:moveTo>
                  <a:pt x="0" y="0"/>
                </a:moveTo>
                <a:lnTo>
                  <a:pt x="7738396" y="0"/>
                </a:lnTo>
                <a:lnTo>
                  <a:pt x="7738396" y="11210944"/>
                </a:lnTo>
                <a:lnTo>
                  <a:pt x="0" y="1121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66800" y="3075626"/>
            <a:ext cx="16154400" cy="412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65"/>
              </a:lnSpc>
            </a:pPr>
            <a:r>
              <a:rPr lang="en-US" sz="16200" b="1" dirty="0">
                <a:solidFill>
                  <a:srgbClr val="00B0F0"/>
                </a:solidFill>
                <a:latin typeface="Agency FB" panose="020B0503020202020204" pitchFamily="34" charset="0"/>
                <a:ea typeface="Sukar Bold"/>
                <a:cs typeface="Sukar Bold"/>
                <a:sym typeface="Sukar Bold"/>
              </a:rPr>
              <a:t>THE NEW COVENANT</a:t>
            </a:r>
          </a:p>
          <a:p>
            <a:pPr algn="ctr">
              <a:lnSpc>
                <a:spcPts val="16065"/>
              </a:lnSpc>
            </a:pPr>
            <a:r>
              <a:rPr lang="en-US" sz="16200" b="1" dirty="0">
                <a:solidFill>
                  <a:srgbClr val="00B0F0"/>
                </a:solidFill>
                <a:latin typeface="Agency FB" panose="020B0503020202020204" pitchFamily="34" charset="0"/>
                <a:ea typeface="Sukar Bold"/>
                <a:cs typeface="Sukar Bold"/>
                <a:sym typeface="Sukar Bold"/>
              </a:rPr>
              <a:t>LUKE 22:1-23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89970" y="-1283132"/>
            <a:ext cx="4492478" cy="5765346"/>
          </a:xfrm>
          <a:custGeom>
            <a:avLst/>
            <a:gdLst/>
            <a:ahLst/>
            <a:cxnLst/>
            <a:rect l="l" t="t" r="r" b="b"/>
            <a:pathLst>
              <a:path w="4492478" h="5765346">
                <a:moveTo>
                  <a:pt x="0" y="5765346"/>
                </a:moveTo>
                <a:lnTo>
                  <a:pt x="4492477" y="5765346"/>
                </a:lnTo>
                <a:lnTo>
                  <a:pt x="4492477" y="0"/>
                </a:lnTo>
                <a:lnTo>
                  <a:pt x="0" y="0"/>
                </a:lnTo>
                <a:lnTo>
                  <a:pt x="0" y="5765346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67482" y="-905327"/>
            <a:ext cx="3903690" cy="5009735"/>
          </a:xfrm>
          <a:custGeom>
            <a:avLst/>
            <a:gdLst/>
            <a:ahLst/>
            <a:cxnLst/>
            <a:rect l="l" t="t" r="r" b="b"/>
            <a:pathLst>
              <a:path w="3903690" h="5009735">
                <a:moveTo>
                  <a:pt x="3903690" y="5009736"/>
                </a:moveTo>
                <a:lnTo>
                  <a:pt x="0" y="5009736"/>
                </a:lnTo>
                <a:lnTo>
                  <a:pt x="0" y="0"/>
                </a:lnTo>
                <a:lnTo>
                  <a:pt x="3903690" y="0"/>
                </a:lnTo>
                <a:lnTo>
                  <a:pt x="3903690" y="50097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722717" y="6076147"/>
            <a:ext cx="4492478" cy="5765346"/>
          </a:xfrm>
          <a:custGeom>
            <a:avLst/>
            <a:gdLst/>
            <a:ahLst/>
            <a:cxnLst/>
            <a:rect l="l" t="t" r="r" b="b"/>
            <a:pathLst>
              <a:path w="4492478" h="5765346">
                <a:moveTo>
                  <a:pt x="4492477" y="0"/>
                </a:moveTo>
                <a:lnTo>
                  <a:pt x="0" y="0"/>
                </a:lnTo>
                <a:lnTo>
                  <a:pt x="0" y="5765347"/>
                </a:lnTo>
                <a:lnTo>
                  <a:pt x="4492477" y="5765347"/>
                </a:lnTo>
                <a:lnTo>
                  <a:pt x="4492477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51792" y="6262228"/>
            <a:ext cx="3903690" cy="5009735"/>
          </a:xfrm>
          <a:custGeom>
            <a:avLst/>
            <a:gdLst/>
            <a:ahLst/>
            <a:cxnLst/>
            <a:rect l="l" t="t" r="r" b="b"/>
            <a:pathLst>
              <a:path w="3903690" h="5009735">
                <a:moveTo>
                  <a:pt x="0" y="0"/>
                </a:moveTo>
                <a:lnTo>
                  <a:pt x="3903690" y="0"/>
                </a:lnTo>
                <a:lnTo>
                  <a:pt x="3903690" y="5009735"/>
                </a:lnTo>
                <a:lnTo>
                  <a:pt x="0" y="5009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04800" y="266700"/>
            <a:ext cx="17373600" cy="10020300"/>
            <a:chOff x="-227668" y="0"/>
            <a:chExt cx="25954168" cy="991611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5726500" cy="9429885"/>
              <a:chOff x="0" y="0"/>
              <a:chExt cx="5081778" cy="186269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081778" cy="1862693"/>
              </a:xfrm>
              <a:custGeom>
                <a:avLst/>
                <a:gdLst/>
                <a:ahLst/>
                <a:cxnLst/>
                <a:rect l="l" t="t" r="r" b="b"/>
                <a:pathLst>
                  <a:path w="5081778" h="1862693">
                    <a:moveTo>
                      <a:pt x="0" y="0"/>
                    </a:moveTo>
                    <a:lnTo>
                      <a:pt x="5081778" y="0"/>
                    </a:lnTo>
                    <a:lnTo>
                      <a:pt x="5081778" y="1862693"/>
                    </a:lnTo>
                    <a:lnTo>
                      <a:pt x="0" y="1862693"/>
                    </a:lnTo>
                    <a:close/>
                  </a:path>
                </a:pathLst>
              </a:custGeom>
              <a:solidFill>
                <a:srgbClr val="FFFFFF">
                  <a:alpha val="76863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5081778" cy="1900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25726500" cy="9429885"/>
              <a:chOff x="0" y="0"/>
              <a:chExt cx="5081778" cy="186269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081778" cy="1862693"/>
              </a:xfrm>
              <a:custGeom>
                <a:avLst/>
                <a:gdLst/>
                <a:ahLst/>
                <a:cxnLst/>
                <a:rect l="l" t="t" r="r" b="b"/>
                <a:pathLst>
                  <a:path w="5081778" h="1862693">
                    <a:moveTo>
                      <a:pt x="0" y="0"/>
                    </a:moveTo>
                    <a:lnTo>
                      <a:pt x="5081778" y="0"/>
                    </a:lnTo>
                    <a:lnTo>
                      <a:pt x="5081778" y="1862693"/>
                    </a:lnTo>
                    <a:lnTo>
                      <a:pt x="0" y="186269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D1BF68">
                    <a:alpha val="83922"/>
                  </a:srgbClr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081778" cy="19007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-227668" y="139813"/>
              <a:ext cx="25726500" cy="97763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899"/>
                </a:lnSpc>
              </a:pPr>
              <a:r>
                <a:rPr lang="en-US" sz="9999" b="1" u="sng" dirty="0">
                  <a:solidFill>
                    <a:srgbClr val="00B0F0"/>
                  </a:solidFill>
                  <a:latin typeface="Agency FB" panose="020B0503020202020204" pitchFamily="34" charset="0"/>
                  <a:ea typeface="Sukar Bold"/>
                  <a:cs typeface="Sukar Bold"/>
                  <a:sym typeface="Sukar Bold"/>
                </a:rPr>
                <a:t>KEY VERSE:</a:t>
              </a:r>
            </a:p>
            <a:p>
              <a:pPr algn="ctr">
                <a:lnSpc>
                  <a:spcPts val="11899"/>
                </a:lnSpc>
              </a:pPr>
              <a:r>
                <a:rPr lang="en-US" sz="9999" b="1" u="sng" dirty="0">
                  <a:solidFill>
                    <a:srgbClr val="00B0F0"/>
                  </a:solidFill>
                  <a:latin typeface="Agency FB" panose="020B0503020202020204" pitchFamily="34" charset="0"/>
                  <a:ea typeface="Sukar Bold"/>
                  <a:cs typeface="Sukar Bold"/>
                  <a:sym typeface="Sukar Bold"/>
                </a:rPr>
                <a:t>LUKE 22:20</a:t>
              </a:r>
            </a:p>
            <a:p>
              <a:pPr algn="ctr">
                <a:lnSpc>
                  <a:spcPts val="11899"/>
                </a:lnSpc>
              </a:pPr>
              <a:r>
                <a:rPr lang="en-US" sz="9999" b="1" dirty="0">
                  <a:solidFill>
                    <a:srgbClr val="00B0F0"/>
                  </a:solidFill>
                  <a:latin typeface="Agency FB" panose="020B0503020202020204" pitchFamily="34" charset="0"/>
                  <a:ea typeface="Sukar Bold"/>
                  <a:cs typeface="Sukar Bold"/>
                  <a:sym typeface="Sukar Bold"/>
                </a:rPr>
                <a:t> </a:t>
              </a:r>
              <a:r>
                <a:rPr lang="en-US" sz="9600" i="1" spc="-10" dirty="0">
                  <a:effectLst/>
                  <a:latin typeface="Georgia" panose="02040502050405020303" pitchFamily="18" charset="0"/>
                  <a:ea typeface="Batang" panose="02030600000101010101" pitchFamily="18" charset="-127"/>
                  <a:cs typeface="Times New Roman" panose="02020603050405020304" pitchFamily="18" charset="0"/>
                </a:rPr>
                <a:t> </a:t>
              </a:r>
              <a:r>
                <a:rPr lang="en-US" sz="7200" b="1" i="0" dirty="0">
                  <a:solidFill>
                    <a:srgbClr val="000000"/>
                  </a:solidFill>
                  <a:effectLst/>
                </a:rPr>
                <a:t>In the same way, after the supper he took the cup, saying, “This cup is the new covenant in my blood, which is poured out for you</a:t>
              </a:r>
              <a:endParaRPr lang="en-US" sz="9999" b="1" dirty="0">
                <a:solidFill>
                  <a:srgbClr val="00B0F0"/>
                </a:solidFill>
                <a:ea typeface="Sukar Bold"/>
                <a:cs typeface="Sukar Bold"/>
                <a:sym typeface="Sukar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567275" y="7977891"/>
            <a:ext cx="2637546" cy="2560818"/>
          </a:xfrm>
          <a:custGeom>
            <a:avLst/>
            <a:gdLst/>
            <a:ahLst/>
            <a:cxnLst/>
            <a:rect l="l" t="t" r="r" b="b"/>
            <a:pathLst>
              <a:path w="2637546" h="2560818">
                <a:moveTo>
                  <a:pt x="2637546" y="0"/>
                </a:moveTo>
                <a:lnTo>
                  <a:pt x="0" y="0"/>
                </a:lnTo>
                <a:lnTo>
                  <a:pt x="0" y="2560818"/>
                </a:lnTo>
                <a:lnTo>
                  <a:pt x="2637546" y="2560818"/>
                </a:lnTo>
                <a:lnTo>
                  <a:pt x="2637546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784915"/>
            <a:ext cx="2581102" cy="4114800"/>
          </a:xfrm>
          <a:custGeom>
            <a:avLst/>
            <a:gdLst/>
            <a:ahLst/>
            <a:cxnLst/>
            <a:rect l="l" t="t" r="r" b="b"/>
            <a:pathLst>
              <a:path w="2581102" h="4114800">
                <a:moveTo>
                  <a:pt x="0" y="0"/>
                </a:moveTo>
                <a:lnTo>
                  <a:pt x="2581102" y="0"/>
                </a:lnTo>
                <a:lnTo>
                  <a:pt x="25811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25382" flipH="1">
            <a:off x="-1049462" y="-801708"/>
            <a:ext cx="3676474" cy="3569522"/>
          </a:xfrm>
          <a:custGeom>
            <a:avLst/>
            <a:gdLst/>
            <a:ahLst/>
            <a:cxnLst/>
            <a:rect l="l" t="t" r="r" b="b"/>
            <a:pathLst>
              <a:path w="3676474" h="3569522">
                <a:moveTo>
                  <a:pt x="3676473" y="0"/>
                </a:moveTo>
                <a:lnTo>
                  <a:pt x="0" y="0"/>
                </a:lnTo>
                <a:lnTo>
                  <a:pt x="0" y="3569522"/>
                </a:lnTo>
                <a:lnTo>
                  <a:pt x="3676473" y="3569522"/>
                </a:lnTo>
                <a:lnTo>
                  <a:pt x="3676473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143703" y="490547"/>
            <a:ext cx="2961544" cy="4721301"/>
          </a:xfrm>
          <a:custGeom>
            <a:avLst/>
            <a:gdLst/>
            <a:ahLst/>
            <a:cxnLst/>
            <a:rect l="l" t="t" r="r" b="b"/>
            <a:pathLst>
              <a:path w="2961544" h="4721301">
                <a:moveTo>
                  <a:pt x="2961544" y="0"/>
                </a:moveTo>
                <a:lnTo>
                  <a:pt x="0" y="0"/>
                </a:lnTo>
                <a:lnTo>
                  <a:pt x="0" y="4721302"/>
                </a:lnTo>
                <a:lnTo>
                  <a:pt x="2961544" y="4721302"/>
                </a:lnTo>
                <a:lnTo>
                  <a:pt x="29615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71647" y="188124"/>
            <a:ext cx="17594493" cy="9708942"/>
            <a:chOff x="0" y="0"/>
            <a:chExt cx="4507560" cy="25189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07560" cy="2518988"/>
            </a:xfrm>
            <a:custGeom>
              <a:avLst/>
              <a:gdLst/>
              <a:ahLst/>
              <a:cxnLst/>
              <a:rect l="l" t="t" r="r" b="b"/>
              <a:pathLst>
                <a:path w="4507560" h="2518988">
                  <a:moveTo>
                    <a:pt x="0" y="0"/>
                  </a:moveTo>
                  <a:lnTo>
                    <a:pt x="4507560" y="0"/>
                  </a:lnTo>
                  <a:lnTo>
                    <a:pt x="4507560" y="2518988"/>
                  </a:lnTo>
                  <a:lnTo>
                    <a:pt x="0" y="2518988"/>
                  </a:lnTo>
                  <a:close/>
                </a:path>
              </a:pathLst>
            </a:custGeom>
            <a:solidFill>
              <a:srgbClr val="FFFFFF">
                <a:alpha val="76863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507560" cy="255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1647" y="243086"/>
            <a:ext cx="17744706" cy="9855791"/>
            <a:chOff x="0" y="0"/>
            <a:chExt cx="4507560" cy="25189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07560" cy="2518988"/>
            </a:xfrm>
            <a:custGeom>
              <a:avLst/>
              <a:gdLst/>
              <a:ahLst/>
              <a:cxnLst/>
              <a:rect l="l" t="t" r="r" b="b"/>
              <a:pathLst>
                <a:path w="4507560" h="2518988">
                  <a:moveTo>
                    <a:pt x="0" y="0"/>
                  </a:moveTo>
                  <a:lnTo>
                    <a:pt x="4507560" y="0"/>
                  </a:lnTo>
                  <a:lnTo>
                    <a:pt x="4507560" y="2518988"/>
                  </a:lnTo>
                  <a:lnTo>
                    <a:pt x="0" y="2518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D1BF68">
                  <a:alpha val="83922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507560" cy="2557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35831" y="5496116"/>
            <a:ext cx="14145977" cy="330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1">
                <a:solidFill>
                  <a:srgbClr val="2C3227"/>
                </a:solidFill>
                <a:latin typeface="Muli Bold"/>
                <a:ea typeface="Muli Bold"/>
                <a:cs typeface="Muli Bold"/>
                <a:sym typeface="Muli Bold"/>
              </a:rPr>
              <a:t>Baptized: Baptizo</a:t>
            </a:r>
          </a:p>
          <a:p>
            <a:pPr algn="ctr">
              <a:lnSpc>
                <a:spcPts val="8819"/>
              </a:lnSpc>
            </a:pPr>
            <a:r>
              <a:rPr lang="en-US" sz="6299" i="1">
                <a:solidFill>
                  <a:srgbClr val="2C3227"/>
                </a:solidFill>
                <a:latin typeface="Muli Italics"/>
                <a:ea typeface="Muli Italics"/>
                <a:cs typeface="Muli Italics"/>
                <a:sym typeface="Muli Italics"/>
              </a:rPr>
              <a:t>To be immmersed in something forever and ever.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38796"/>
            <a:ext cx="15668468" cy="315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1"/>
              </a:lnSpc>
            </a:pPr>
            <a:r>
              <a:rPr lang="en-US" sz="6900" dirty="0">
                <a:solidFill>
                  <a:srgbClr val="707F62"/>
                </a:solidFill>
                <a:latin typeface="Sukar"/>
                <a:ea typeface="Sukar"/>
                <a:cs typeface="Sukar"/>
                <a:sym typeface="Sukar"/>
              </a:rPr>
              <a:t>FOR JOHN BAPTIZED WITH WATER BUT IN A FEW DAYS YOU WILL BE </a:t>
            </a:r>
            <a:r>
              <a:rPr lang="en-US" sz="6900" b="1" dirty="0">
                <a:solidFill>
                  <a:srgbClr val="707F62"/>
                </a:solidFill>
                <a:latin typeface="Sukar Bold"/>
                <a:ea typeface="Sukar Bold"/>
                <a:cs typeface="Sukar Bold"/>
                <a:sym typeface="Sukar Bold"/>
              </a:rPr>
              <a:t>BAPTIZED</a:t>
            </a:r>
            <a:r>
              <a:rPr lang="en-US" sz="6900" dirty="0">
                <a:solidFill>
                  <a:srgbClr val="707F62"/>
                </a:solidFill>
                <a:latin typeface="Sukar"/>
                <a:ea typeface="Sukar"/>
                <a:cs typeface="Sukar"/>
                <a:sym typeface="Sukar"/>
              </a:rPr>
              <a:t> WITH THE HOLY SPIRIT.”</a:t>
            </a:r>
            <a:r>
              <a:rPr lang="en-US" sz="6900" b="1" dirty="0">
                <a:solidFill>
                  <a:srgbClr val="707F62"/>
                </a:solidFill>
                <a:latin typeface="Sukar Bold"/>
                <a:ea typeface="Sukar Bold"/>
                <a:cs typeface="Sukar Bold"/>
                <a:sym typeface="Sukar Bold"/>
              </a:rPr>
              <a:t> </a:t>
            </a:r>
            <a:r>
              <a:rPr lang="en-US" sz="6900" dirty="0">
                <a:solidFill>
                  <a:srgbClr val="707F62"/>
                </a:solidFill>
                <a:latin typeface="Sukar"/>
                <a:ea typeface="Sukar"/>
                <a:cs typeface="Sukar"/>
                <a:sym typeface="Sukar"/>
              </a:rPr>
              <a:t>-ACTS 1:5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</Words>
  <Application>Microsoft Office PowerPoint</Application>
  <PresentationFormat>Custom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Agency FB</vt:lpstr>
      <vt:lpstr>Calibri</vt:lpstr>
      <vt:lpstr>Arial</vt:lpstr>
      <vt:lpstr>Sukar Bold</vt:lpstr>
      <vt:lpstr>Muli Italics</vt:lpstr>
      <vt:lpstr>Muli Bold</vt:lpstr>
      <vt:lpstr>Georgia</vt:lpstr>
      <vt:lpstr>Sukar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NEW COVENANT</dc:title>
  <cp:lastModifiedBy>Peter Shako</cp:lastModifiedBy>
  <cp:revision>2</cp:revision>
  <dcterms:created xsi:type="dcterms:W3CDTF">2006-08-16T00:00:00Z</dcterms:created>
  <dcterms:modified xsi:type="dcterms:W3CDTF">2024-12-15T08:10:18Z</dcterms:modified>
  <dc:identifier>DAGBAUw09QA</dc:identifier>
</cp:coreProperties>
</file>